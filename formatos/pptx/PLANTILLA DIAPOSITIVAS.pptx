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10287000" cx="18288000"/>
  <p:notesSz cx="10287000" cy="18288000"/>
  <p:embeddedFontLst>
    <p:embeddedFont>
      <p:font typeface="Space Mono"/>
      <p:regular r:id="rId13"/>
      <p:bold r:id="rId14"/>
      <p:italic r:id="rId15"/>
      <p:boldItalic r:id="rId16"/>
    </p:embeddedFont>
    <p:embeddedFont>
      <p:font typeface="MuseoModerno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useoModerno-boldItalic.fntdata"/><Relationship Id="rId11" Type="http://schemas.openxmlformats.org/officeDocument/2006/relationships/slide" Target="slides/slide7.xml"/><Relationship Id="rId22" Type="http://schemas.openxmlformats.org/officeDocument/2006/relationships/font" Target="fonts/Inter-bold.fntdata"/><Relationship Id="rId10" Type="http://schemas.openxmlformats.org/officeDocument/2006/relationships/slide" Target="slides/slide6.xml"/><Relationship Id="rId21" Type="http://schemas.openxmlformats.org/officeDocument/2006/relationships/font" Target="fonts/Inter-regular.fntdata"/><Relationship Id="rId13" Type="http://schemas.openxmlformats.org/officeDocument/2006/relationships/font" Target="fonts/SpaceMono-regular.fntdata"/><Relationship Id="rId24" Type="http://schemas.openxmlformats.org/officeDocument/2006/relationships/font" Target="fonts/Inter-boldItalic.fntdata"/><Relationship Id="rId12" Type="http://schemas.openxmlformats.org/officeDocument/2006/relationships/slide" Target="slides/slide8.xml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SpaceMono-italic.fntdata"/><Relationship Id="rId14" Type="http://schemas.openxmlformats.org/officeDocument/2006/relationships/font" Target="fonts/SpaceMono-bold.fntdata"/><Relationship Id="rId17" Type="http://schemas.openxmlformats.org/officeDocument/2006/relationships/font" Target="fonts/MuseoModerno-regular.fntdata"/><Relationship Id="rId16" Type="http://schemas.openxmlformats.org/officeDocument/2006/relationships/font" Target="fonts/SpaceMono-boldItalic.fntdata"/><Relationship Id="rId5" Type="http://schemas.openxmlformats.org/officeDocument/2006/relationships/slide" Target="slides/slide1.xml"/><Relationship Id="rId19" Type="http://schemas.openxmlformats.org/officeDocument/2006/relationships/font" Target="fonts/MuseoModerno-italic.fntdata"/><Relationship Id="rId6" Type="http://schemas.openxmlformats.org/officeDocument/2006/relationships/slide" Target="slides/slide2.xml"/><Relationship Id="rId18" Type="http://schemas.openxmlformats.org/officeDocument/2006/relationships/font" Target="fonts/MuseoModern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02D6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041e0b9501a3793180208714255da0b3.png" id="17" name="Google Shape;17;p3"/>
          <p:cNvPicPr preferRelativeResize="0"/>
          <p:nvPr/>
        </p:nvPicPr>
        <p:blipFill rotWithShape="1">
          <a:blip r:embed="rId3">
            <a:alphaModFix/>
          </a:blip>
          <a:srcRect b="-25" l="0" r="0" t="-25"/>
          <a:stretch/>
        </p:blipFill>
        <p:spPr>
          <a:xfrm>
            <a:off x="914400" y="761695"/>
            <a:ext cx="3238805" cy="59070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16192195" y="914400"/>
            <a:ext cx="228600" cy="228600"/>
          </a:xfrm>
          <a:prstGeom prst="rect">
            <a:avLst/>
          </a:prstGeom>
          <a:solidFill>
            <a:srgbClr val="C1489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6516807" y="914400"/>
            <a:ext cx="228600" cy="228600"/>
          </a:xfrm>
          <a:prstGeom prst="rect">
            <a:avLst/>
          </a:prstGeom>
          <a:solidFill>
            <a:srgbClr val="56ACD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6840505" y="914400"/>
            <a:ext cx="2286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/>
        </p:nvSpPr>
        <p:spPr>
          <a:xfrm>
            <a:off x="-190195" y="3238805"/>
            <a:ext cx="4953305" cy="5334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75"/>
              </a:buClr>
              <a:buSzPts val="51000"/>
              <a:buFont typeface="MuseoModerno"/>
              <a:buNone/>
            </a:pPr>
            <a:r>
              <a:rPr b="1" i="0" lang="en-US" sz="51000" u="none" cap="none" strike="noStrike">
                <a:solidFill>
                  <a:srgbClr val="1B3675"/>
                </a:solidFill>
                <a:latin typeface="MuseoModerno"/>
                <a:ea typeface="MuseoModerno"/>
                <a:cs typeface="MuseoModerno"/>
                <a:sym typeface="MuseoModerno"/>
              </a:rPr>
              <a:t>&lt;</a:t>
            </a:r>
            <a:endParaRPr b="0" i="0" sz="5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42df5f41d2f8a8b3cda716989abe3559.png" id="22" name="Google Shape;22;p3"/>
          <p:cNvPicPr preferRelativeResize="0"/>
          <p:nvPr/>
        </p:nvPicPr>
        <p:blipFill rotWithShape="1">
          <a:blip r:embed="rId4">
            <a:alphaModFix/>
          </a:blip>
          <a:srcRect b="0" l="-404" r="-404" t="0"/>
          <a:stretch/>
        </p:blipFill>
        <p:spPr>
          <a:xfrm>
            <a:off x="1333195" y="4953305"/>
            <a:ext cx="1143000" cy="2834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1333195" y="5143500"/>
            <a:ext cx="1562161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useoModerno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MuseoModerno"/>
                <a:ea typeface="MuseoModerno"/>
                <a:cs typeface="MuseoModerno"/>
                <a:sym typeface="MuseoModerno"/>
              </a:rPr>
              <a:t>Título de la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1333195" y="6238951"/>
            <a:ext cx="1562161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useoModerno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MuseoModerno"/>
                <a:ea typeface="MuseoModerno"/>
                <a:cs typeface="MuseoModerno"/>
                <a:sym typeface="MuseoModerno"/>
              </a:rPr>
              <a:t>presentación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1333195" y="7524598"/>
            <a:ext cx="142875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56ACDE"/>
                </a:solidFill>
                <a:latin typeface="Inter"/>
                <a:ea typeface="Inter"/>
                <a:cs typeface="Inter"/>
                <a:sym typeface="Inter"/>
              </a:rPr>
              <a:t>Subtítulo descriptivo o línea de proyecto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ac618f68955ec7db780448572858a2c7.png" id="26" name="Google Shape;26;p3"/>
          <p:cNvPicPr preferRelativeResize="0"/>
          <p:nvPr/>
        </p:nvPicPr>
        <p:blipFill rotWithShape="1">
          <a:blip r:embed="rId5">
            <a:alphaModFix/>
          </a:blip>
          <a:srcRect b="0" l="-2078" r="-2078" t="0"/>
          <a:stretch/>
        </p:blipFill>
        <p:spPr>
          <a:xfrm>
            <a:off x="1333195" y="8382305"/>
            <a:ext cx="361919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/>
          <p:nvPr/>
        </p:nvSpPr>
        <p:spPr>
          <a:xfrm>
            <a:off x="1333195" y="8648395"/>
            <a:ext cx="857250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2D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8C2D6"/>
                </a:solidFill>
                <a:latin typeface="Inter"/>
                <a:ea typeface="Inter"/>
                <a:cs typeface="Inter"/>
                <a:sym typeface="Inter"/>
              </a:rPr>
              <a:t>Nombre Apellido · Cargo / 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1333195" y="8934602"/>
            <a:ext cx="857250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2D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8C2D6"/>
                </a:solidFill>
                <a:latin typeface="Inter"/>
                <a:ea typeface="Inter"/>
                <a:cs typeface="Inter"/>
                <a:sym typeface="Inter"/>
              </a:rPr>
              <a:t>Mes 2025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14287500" y="9001354"/>
            <a:ext cx="285750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900"/>
              <a:buFont typeface="Space Mono"/>
              <a:buNone/>
            </a:pPr>
            <a:r>
              <a:rPr b="0" i="0" lang="en-US" sz="900" u="none" cap="none" strike="noStrike">
                <a:solidFill>
                  <a:srgbClr val="56ACDE"/>
                </a:solidFill>
                <a:latin typeface="Space Mono"/>
                <a:ea typeface="Space Mono"/>
                <a:cs typeface="Space Mono"/>
                <a:sym typeface="Space Mono"/>
              </a:rPr>
              <a:t>DOC · CRT-2025-001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1333195" y="97155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89A8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7989A8"/>
                </a:solidFill>
                <a:latin typeface="Space Mono"/>
                <a:ea typeface="Space Mono"/>
                <a:cs typeface="Space Mono"/>
                <a:sym typeface="Space Mono"/>
              </a:rPr>
              <a:t>CONTROL · ROBÓTICA · IOT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65340a96f9dd328df81223c80740698c.png" id="37" name="Google Shape;37;p4"/>
          <p:cNvPicPr preferRelativeResize="0"/>
          <p:nvPr/>
        </p:nvPicPr>
        <p:blipFill rotWithShape="1">
          <a:blip r:embed="rId3">
            <a:alphaModFix/>
          </a:blip>
          <a:srcRect b="-201" l="0" r="0" t="-201"/>
          <a:stretch/>
        </p:blipFill>
        <p:spPr>
          <a:xfrm>
            <a:off x="0" y="0"/>
            <a:ext cx="75895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17335195" y="914400"/>
            <a:ext cx="171907" cy="171907"/>
          </a:xfrm>
          <a:prstGeom prst="rect">
            <a:avLst/>
          </a:prstGeom>
          <a:solidFill>
            <a:srgbClr val="C1489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17582998" y="914400"/>
            <a:ext cx="171907" cy="171907"/>
          </a:xfrm>
          <a:prstGeom prst="rect">
            <a:avLst/>
          </a:prstGeom>
          <a:solidFill>
            <a:srgbClr val="56ACD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7335195" y="1162202"/>
            <a:ext cx="171907" cy="171907"/>
          </a:xfrm>
          <a:prstGeom prst="rect">
            <a:avLst/>
          </a:prstGeom>
          <a:solidFill>
            <a:srgbClr val="B5DAE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 txBox="1"/>
          <p:nvPr/>
        </p:nvSpPr>
        <p:spPr>
          <a:xfrm>
            <a:off x="1333195" y="914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900"/>
              <a:buFont typeface="Space Mono"/>
              <a:buNone/>
            </a:pPr>
            <a:r>
              <a:rPr b="0" i="0" lang="en-US" sz="900" u="none" cap="none" strike="noStrike">
                <a:solidFill>
                  <a:srgbClr val="56ACDE"/>
                </a:solidFill>
                <a:latin typeface="Space Mono"/>
                <a:ea typeface="Space Mono"/>
                <a:cs typeface="Space Mono"/>
                <a:sym typeface="Space Mono"/>
              </a:rPr>
              <a:t>&lt; CONTENIDO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1333195" y="1429207"/>
            <a:ext cx="15621610" cy="857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4800"/>
              <a:buFont typeface="MuseoModerno"/>
              <a:buNone/>
            </a:pPr>
            <a:r>
              <a:rPr b="1" i="0" lang="en-US" sz="4800" u="none" cap="none" strike="noStrike">
                <a:solidFill>
                  <a:srgbClr val="102D69"/>
                </a:solidFill>
                <a:latin typeface="MuseoModerno"/>
                <a:ea typeface="MuseoModerno"/>
                <a:cs typeface="MuseoModerno"/>
                <a:sym typeface="MuseoModerno"/>
              </a:rPr>
              <a:t>Contenido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00308c30265ec7f8e58259705c48b49a.png" id="43" name="Google Shape;43;p4"/>
          <p:cNvPicPr preferRelativeResize="0"/>
          <p:nvPr/>
        </p:nvPicPr>
        <p:blipFill rotWithShape="1">
          <a:blip r:embed="rId4">
            <a:alphaModFix/>
          </a:blip>
          <a:srcRect b="-400" l="0" r="0" t="-400"/>
          <a:stretch/>
        </p:blipFill>
        <p:spPr>
          <a:xfrm>
            <a:off x="1333195" y="2523744"/>
            <a:ext cx="1143000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 txBox="1"/>
          <p:nvPr/>
        </p:nvSpPr>
        <p:spPr>
          <a:xfrm>
            <a:off x="1333195" y="3238805"/>
            <a:ext cx="571500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1300"/>
              <a:buFont typeface="Space Mono"/>
              <a:buNone/>
            </a:pPr>
            <a:r>
              <a:rPr b="0" i="0" lang="en-US" sz="1300" u="none" cap="none" strike="noStrike">
                <a:solidFill>
                  <a:srgbClr val="56ACDE"/>
                </a:solidFill>
                <a:latin typeface="Space Mono"/>
                <a:ea typeface="Space Mono"/>
                <a:cs typeface="Space Mono"/>
                <a:sym typeface="Space Mono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2095805" y="3238805"/>
            <a:ext cx="381305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200"/>
              <a:buFont typeface="Space Mono"/>
              <a:buNone/>
            </a:pPr>
            <a:r>
              <a:rPr b="1" i="0" lang="en-US" sz="22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&gt;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2762402" y="3238805"/>
            <a:ext cx="12382805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102D69"/>
                </a:solidFill>
                <a:latin typeface="Inter"/>
                <a:ea typeface="Inter"/>
                <a:cs typeface="Inter"/>
                <a:sym typeface="Inter"/>
              </a:rPr>
              <a:t>Introducción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15430500" y="3238805"/>
            <a:ext cx="1905610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Space Mono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Space Mono"/>
                <a:ea typeface="Space Mono"/>
                <a:cs typeface="Space Mono"/>
                <a:sym typeface="Space Mono"/>
              </a:rPr>
              <a:t>PÁG. 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9397ef5df052c5ce5c077487cd8df2f9.png" id="48" name="Google Shape;48;p4"/>
          <p:cNvPicPr preferRelativeResize="0"/>
          <p:nvPr/>
        </p:nvPicPr>
        <p:blipFill rotWithShape="1">
          <a:blip r:embed="rId5">
            <a:alphaModFix/>
          </a:blip>
          <a:srcRect b="0" l="-2083" r="-2083" t="0"/>
          <a:stretch/>
        </p:blipFill>
        <p:spPr>
          <a:xfrm>
            <a:off x="1333195" y="384779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 txBox="1"/>
          <p:nvPr/>
        </p:nvSpPr>
        <p:spPr>
          <a:xfrm>
            <a:off x="1333195" y="4095598"/>
            <a:ext cx="571500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1300"/>
              <a:buFont typeface="Space Mono"/>
              <a:buNone/>
            </a:pPr>
            <a:r>
              <a:rPr b="0" i="0" lang="en-US" sz="1300" u="none" cap="none" strike="noStrike">
                <a:solidFill>
                  <a:srgbClr val="56ACDE"/>
                </a:solidFill>
                <a:latin typeface="Space Mono"/>
                <a:ea typeface="Space Mono"/>
                <a:cs typeface="Space Mono"/>
                <a:sym typeface="Space Mono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2095805" y="4095598"/>
            <a:ext cx="381305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200"/>
              <a:buFont typeface="Space Mono"/>
              <a:buNone/>
            </a:pPr>
            <a:r>
              <a:rPr b="1" i="0" lang="en-US" sz="22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&gt;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2762402" y="4095598"/>
            <a:ext cx="12382805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102D69"/>
                </a:solidFill>
                <a:latin typeface="Inter"/>
                <a:ea typeface="Inter"/>
                <a:cs typeface="Inter"/>
                <a:sym typeface="Inter"/>
              </a:rPr>
              <a:t>Contexto del proyecto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15430500" y="4095598"/>
            <a:ext cx="1905610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Space Mono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Space Mono"/>
                <a:ea typeface="Space Mono"/>
                <a:cs typeface="Space Mono"/>
                <a:sym typeface="Space Mono"/>
              </a:rPr>
              <a:t>PÁG. 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9397ef5df052c5ce5c077487cd8df2f9.png" id="53" name="Google Shape;53;p4"/>
          <p:cNvPicPr preferRelativeResize="0"/>
          <p:nvPr/>
        </p:nvPicPr>
        <p:blipFill rotWithShape="1">
          <a:blip r:embed="rId5">
            <a:alphaModFix/>
          </a:blip>
          <a:srcRect b="0" l="-2083" r="-2083" t="0"/>
          <a:stretch/>
        </p:blipFill>
        <p:spPr>
          <a:xfrm>
            <a:off x="1333195" y="4705502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"/>
          <p:cNvSpPr txBox="1"/>
          <p:nvPr/>
        </p:nvSpPr>
        <p:spPr>
          <a:xfrm>
            <a:off x="1333195" y="4953305"/>
            <a:ext cx="571500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1300"/>
              <a:buFont typeface="Space Mono"/>
              <a:buNone/>
            </a:pPr>
            <a:r>
              <a:rPr b="0" i="0" lang="en-US" sz="1300" u="none" cap="none" strike="noStrike">
                <a:solidFill>
                  <a:srgbClr val="56ACDE"/>
                </a:solidFill>
                <a:latin typeface="Space Mono"/>
                <a:ea typeface="Space Mono"/>
                <a:cs typeface="Space Mono"/>
                <a:sym typeface="Space Mono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2095805" y="4953305"/>
            <a:ext cx="381305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200"/>
              <a:buFont typeface="Space Mono"/>
              <a:buNone/>
            </a:pPr>
            <a:r>
              <a:rPr b="1" i="0" lang="en-US" sz="22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&gt;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2762402" y="4953305"/>
            <a:ext cx="12382805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102D69"/>
                </a:solidFill>
                <a:latin typeface="Inter"/>
                <a:ea typeface="Inter"/>
                <a:cs typeface="Inter"/>
                <a:sym typeface="Inter"/>
              </a:rPr>
              <a:t>Desarrollo metodológico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15430500" y="4953305"/>
            <a:ext cx="1905610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Space Mono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Space Mono"/>
                <a:ea typeface="Space Mono"/>
                <a:cs typeface="Space Mono"/>
                <a:sym typeface="Space Mono"/>
              </a:rPr>
              <a:t>PÁG.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9397ef5df052c5ce5c077487cd8df2f9.png" id="58" name="Google Shape;58;p4"/>
          <p:cNvPicPr preferRelativeResize="0"/>
          <p:nvPr/>
        </p:nvPicPr>
        <p:blipFill rotWithShape="1">
          <a:blip r:embed="rId5">
            <a:alphaModFix/>
          </a:blip>
          <a:srcRect b="0" l="-2083" r="-2083" t="0"/>
          <a:stretch/>
        </p:blipFill>
        <p:spPr>
          <a:xfrm>
            <a:off x="1333195" y="5562295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 txBox="1"/>
          <p:nvPr/>
        </p:nvSpPr>
        <p:spPr>
          <a:xfrm>
            <a:off x="1333195" y="5810098"/>
            <a:ext cx="571500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1300"/>
              <a:buFont typeface="Space Mono"/>
              <a:buNone/>
            </a:pPr>
            <a:r>
              <a:rPr b="0" i="0" lang="en-US" sz="1300" u="none" cap="none" strike="noStrike">
                <a:solidFill>
                  <a:srgbClr val="56ACDE"/>
                </a:solidFill>
                <a:latin typeface="Space Mono"/>
                <a:ea typeface="Space Mono"/>
                <a:cs typeface="Space Mono"/>
                <a:sym typeface="Space Mono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2095805" y="5810098"/>
            <a:ext cx="381305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200"/>
              <a:buFont typeface="Space Mono"/>
              <a:buNone/>
            </a:pPr>
            <a:r>
              <a:rPr b="1" i="0" lang="en-US" sz="22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&gt;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2762402" y="5810098"/>
            <a:ext cx="12382805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102D69"/>
                </a:solidFill>
                <a:latin typeface="Inter"/>
                <a:ea typeface="Inter"/>
                <a:cs typeface="Inter"/>
                <a:sym typeface="Inter"/>
              </a:rPr>
              <a:t>Resultados y hallazgos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15430500" y="5810098"/>
            <a:ext cx="1905610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Space Mono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Space Mono"/>
                <a:ea typeface="Space Mono"/>
                <a:cs typeface="Space Mono"/>
                <a:sym typeface="Space Mono"/>
              </a:rPr>
              <a:t>PÁG. 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9397ef5df052c5ce5c077487cd8df2f9.png" id="63" name="Google Shape;63;p4"/>
          <p:cNvPicPr preferRelativeResize="0"/>
          <p:nvPr/>
        </p:nvPicPr>
        <p:blipFill rotWithShape="1">
          <a:blip r:embed="rId5">
            <a:alphaModFix/>
          </a:blip>
          <a:srcRect b="0" l="-2083" r="-2083" t="0"/>
          <a:stretch/>
        </p:blipFill>
        <p:spPr>
          <a:xfrm>
            <a:off x="1333195" y="6420002"/>
            <a:ext cx="160020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"/>
          <p:cNvSpPr txBox="1"/>
          <p:nvPr/>
        </p:nvSpPr>
        <p:spPr>
          <a:xfrm>
            <a:off x="1333195" y="6667805"/>
            <a:ext cx="571500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1300"/>
              <a:buFont typeface="Space Mono"/>
              <a:buNone/>
            </a:pPr>
            <a:r>
              <a:rPr b="0" i="0" lang="en-US" sz="1300" u="none" cap="none" strike="noStrike">
                <a:solidFill>
                  <a:srgbClr val="56ACDE"/>
                </a:solidFill>
                <a:latin typeface="Space Mono"/>
                <a:ea typeface="Space Mono"/>
                <a:cs typeface="Space Mono"/>
                <a:sym typeface="Space Mono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2095805" y="6667805"/>
            <a:ext cx="381305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200"/>
              <a:buFont typeface="Space Mono"/>
              <a:buNone/>
            </a:pPr>
            <a:r>
              <a:rPr b="1" i="0" lang="en-US" sz="22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&gt;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2762402" y="6667805"/>
            <a:ext cx="12382805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102D69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15430500" y="6667805"/>
            <a:ext cx="1905610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Space Mono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Space Mono"/>
                <a:ea typeface="Space Mono"/>
                <a:cs typeface="Space Mono"/>
                <a:sym typeface="Space Mono"/>
              </a:rPr>
              <a:t>PÁG.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1333195" y="97155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Space Mono"/>
                <a:ea typeface="Space Mono"/>
                <a:cs typeface="Space Mono"/>
                <a:sym typeface="Space Mono"/>
              </a:rPr>
              <a:t>CORIOT · CONTROL · ROBÓTICA · IOT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 txBox="1"/>
          <p:nvPr/>
        </p:nvSpPr>
        <p:spPr>
          <a:xfrm>
            <a:off x="16383305" y="9715500"/>
            <a:ext cx="762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02 / 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02D6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 txBox="1"/>
          <p:nvPr/>
        </p:nvSpPr>
        <p:spPr>
          <a:xfrm>
            <a:off x="0" y="286207"/>
            <a:ext cx="4763110" cy="47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D7C"/>
              </a:buClr>
              <a:buSzPts val="42000"/>
              <a:buFont typeface="MuseoModerno"/>
              <a:buNone/>
            </a:pPr>
            <a:r>
              <a:rPr b="1" i="0" lang="en-US" sz="42000" u="none" cap="none" strike="noStrike">
                <a:solidFill>
                  <a:srgbClr val="1F3D7C"/>
                </a:solidFill>
                <a:latin typeface="MuseoModerno"/>
                <a:ea typeface="MuseoModerno"/>
                <a:cs typeface="MuseoModerno"/>
                <a:sym typeface="MuseoModerno"/>
              </a:rPr>
              <a:t>&lt;</a:t>
            </a:r>
            <a:endParaRPr b="0" i="0" sz="4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6954805" y="914400"/>
            <a:ext cx="190195" cy="190195"/>
          </a:xfrm>
          <a:prstGeom prst="rect">
            <a:avLst/>
          </a:prstGeom>
          <a:solidFill>
            <a:srgbClr val="C1489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17220895" y="914400"/>
            <a:ext cx="190195" cy="190195"/>
          </a:xfrm>
          <a:prstGeom prst="rect">
            <a:avLst/>
          </a:prstGeom>
          <a:solidFill>
            <a:srgbClr val="56ACD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17487900" y="914400"/>
            <a:ext cx="190195" cy="19019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 txBox="1"/>
          <p:nvPr/>
        </p:nvSpPr>
        <p:spPr>
          <a:xfrm>
            <a:off x="10287000" y="857707"/>
            <a:ext cx="7429500" cy="47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F6BA4"/>
              </a:buClr>
              <a:buSzPts val="33000"/>
              <a:buFont typeface="MuseoModerno"/>
              <a:buNone/>
            </a:pPr>
            <a:r>
              <a:rPr b="1" i="0" lang="en-US" sz="33000" u="none" cap="none" strike="noStrike">
                <a:solidFill>
                  <a:srgbClr val="3F6BA4"/>
                </a:solidFill>
                <a:latin typeface="MuseoModerno"/>
                <a:ea typeface="MuseoModerno"/>
                <a:cs typeface="MuseoModerno"/>
                <a:sym typeface="MuseoModerno"/>
              </a:rPr>
              <a:t>01</a:t>
            </a:r>
            <a:endParaRPr b="0" i="0" sz="3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1333195" y="40005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1000"/>
              <a:buFont typeface="Space Mono"/>
              <a:buNone/>
            </a:pPr>
            <a:r>
              <a:rPr b="0" i="0" lang="en-US" sz="1000" u="none" cap="none" strike="noStrike">
                <a:solidFill>
                  <a:srgbClr val="56ACDE"/>
                </a:solidFill>
                <a:latin typeface="Space Mono"/>
                <a:ea typeface="Space Mono"/>
                <a:cs typeface="Space Mono"/>
                <a:sym typeface="Space Mono"/>
              </a:rPr>
              <a:t>SECCIÓN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0d77a9ec144c9fb908b3e0e8833e21a8.png" id="82" name="Google Shape;82;p5"/>
          <p:cNvPicPr preferRelativeResize="0"/>
          <p:nvPr/>
        </p:nvPicPr>
        <p:blipFill rotWithShape="1">
          <a:blip r:embed="rId3">
            <a:alphaModFix/>
          </a:blip>
          <a:srcRect b="-420" l="0" r="0" t="-420"/>
          <a:stretch/>
        </p:blipFill>
        <p:spPr>
          <a:xfrm>
            <a:off x="1333195" y="4524451"/>
            <a:ext cx="7616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 txBox="1"/>
          <p:nvPr/>
        </p:nvSpPr>
        <p:spPr>
          <a:xfrm>
            <a:off x="1333195" y="4858207"/>
            <a:ext cx="1428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MuseoModerno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MuseoModerno"/>
                <a:ea typeface="MuseoModerno"/>
                <a:cs typeface="MuseoModerno"/>
                <a:sym typeface="MuseoModerno"/>
              </a:rPr>
              <a:t>Nombre de la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1333195" y="5905195"/>
            <a:ext cx="1428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MuseoModerno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MuseoModerno"/>
                <a:ea typeface="MuseoModerno"/>
                <a:cs typeface="MuseoModerno"/>
                <a:sym typeface="MuseoModerno"/>
              </a:rPr>
              <a:t>sección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1333195" y="7334402"/>
            <a:ext cx="11430000" cy="609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2D6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B8C2D6"/>
                </a:solidFill>
                <a:latin typeface="Inter"/>
                <a:ea typeface="Inter"/>
                <a:cs typeface="Inter"/>
                <a:sym typeface="Inter"/>
              </a:rPr>
              <a:t>Breve descripción de lo que se aborda en esta sección, de una a dos líneas máximo.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aecb91c70640e556b4ecc135c231c28f.png" id="86" name="Google Shape;86;p5"/>
          <p:cNvPicPr preferRelativeResize="0"/>
          <p:nvPr/>
        </p:nvPicPr>
        <p:blipFill rotWithShape="1">
          <a:blip r:embed="rId4">
            <a:alphaModFix/>
          </a:blip>
          <a:srcRect b="-404" l="0" r="0" t="-404"/>
          <a:stretch/>
        </p:blipFill>
        <p:spPr>
          <a:xfrm>
            <a:off x="1333195" y="8572500"/>
            <a:ext cx="36191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 txBox="1"/>
          <p:nvPr/>
        </p:nvSpPr>
        <p:spPr>
          <a:xfrm>
            <a:off x="1333195" y="97155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89A8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7989A8"/>
                </a:solidFill>
                <a:latin typeface="Space Mono"/>
                <a:ea typeface="Space Mono"/>
                <a:cs typeface="Space Mono"/>
                <a:sym typeface="Space Mono"/>
              </a:rPr>
              <a:t>CORIOT · CONTROL · ROBÓTICA · IOT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16383305" y="9715500"/>
            <a:ext cx="762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56ACDE"/>
                </a:solidFill>
                <a:latin typeface="Space Mono"/>
                <a:ea typeface="Space Mono"/>
                <a:cs typeface="Space Mono"/>
                <a:sym typeface="Space Mono"/>
              </a:rPr>
              <a:t>03 / 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eb458a9c2bcc16177a844c41e32e2190.png" id="95" name="Google Shape;95;p6"/>
          <p:cNvPicPr preferRelativeResize="0"/>
          <p:nvPr/>
        </p:nvPicPr>
        <p:blipFill rotWithShape="1">
          <a:blip r:embed="rId3">
            <a:alphaModFix/>
          </a:blip>
          <a:srcRect b="0" l="-80" r="-80" t="0"/>
          <a:stretch/>
        </p:blipFill>
        <p:spPr>
          <a:xfrm>
            <a:off x="0" y="0"/>
            <a:ext cx="18288000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17335195" y="342900"/>
            <a:ext cx="152705" cy="152705"/>
          </a:xfrm>
          <a:prstGeom prst="rect">
            <a:avLst/>
          </a:prstGeom>
          <a:solidFill>
            <a:srgbClr val="C1489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17563795" y="342900"/>
            <a:ext cx="152705" cy="152705"/>
          </a:xfrm>
          <a:prstGeom prst="rect">
            <a:avLst/>
          </a:prstGeom>
          <a:solidFill>
            <a:srgbClr val="56ACD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 txBox="1"/>
          <p:nvPr/>
        </p:nvSpPr>
        <p:spPr>
          <a:xfrm>
            <a:off x="1333195" y="1238098"/>
            <a:ext cx="15621610" cy="762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4000"/>
              <a:buFont typeface="MuseoModerno"/>
              <a:buNone/>
            </a:pPr>
            <a:r>
              <a:rPr b="1" i="0" lang="en-US" sz="4000" u="none" cap="none" strike="noStrike">
                <a:solidFill>
                  <a:srgbClr val="102D69"/>
                </a:solidFill>
                <a:latin typeface="MuseoModerno"/>
                <a:ea typeface="MuseoModerno"/>
                <a:cs typeface="MuseoModerno"/>
                <a:sym typeface="MuseoModerno"/>
              </a:rPr>
              <a:t>Título de la diapositiva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d578c6887e9a23493392e7273ad5f265.png" id="99" name="Google Shape;99;p6"/>
          <p:cNvPicPr preferRelativeResize="0"/>
          <p:nvPr/>
        </p:nvPicPr>
        <p:blipFill rotWithShape="1">
          <a:blip r:embed="rId4">
            <a:alphaModFix/>
          </a:blip>
          <a:srcRect b="-384" l="0" r="0" t="-384"/>
          <a:stretch/>
        </p:blipFill>
        <p:spPr>
          <a:xfrm>
            <a:off x="1333195" y="2143354"/>
            <a:ext cx="95280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 txBox="1"/>
          <p:nvPr/>
        </p:nvSpPr>
        <p:spPr>
          <a:xfrm>
            <a:off x="1333195" y="2381098"/>
            <a:ext cx="142875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Bajada opcional · contexto breve de una línea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1333195" y="3524098"/>
            <a:ext cx="381305" cy="762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900"/>
              <a:buFont typeface="Space Mono"/>
              <a:buNone/>
            </a:pPr>
            <a:r>
              <a:rPr b="1" i="0" lang="en-US" sz="19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&gt;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1904695" y="3524098"/>
            <a:ext cx="15621610" cy="762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02D69"/>
                </a:solidFill>
                <a:latin typeface="Inter"/>
                <a:ea typeface="Inter"/>
                <a:cs typeface="Inter"/>
                <a:sym typeface="Inter"/>
              </a:rPr>
              <a:t>Punto clave número uno</a:t>
            </a:r>
            <a:r>
              <a:rPr b="0" i="0" lang="en-US" sz="1800" u="none" cap="none" strike="noStrike">
                <a:solidFill>
                  <a:srgbClr val="2F2F2F"/>
                </a:solidFill>
                <a:latin typeface="Inter"/>
                <a:ea typeface="Inter"/>
                <a:cs typeface="Inter"/>
                <a:sym typeface="Inter"/>
              </a:rPr>
              <a:t> expresado en una frase concisa que no exceda dos líneas de texto.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1333195" y="4762195"/>
            <a:ext cx="381305" cy="762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900"/>
              <a:buFont typeface="Space Mono"/>
              <a:buNone/>
            </a:pPr>
            <a:r>
              <a:rPr b="1" i="0" lang="en-US" sz="19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&gt;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1904695" y="4762195"/>
            <a:ext cx="15621610" cy="762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02D69"/>
                </a:solidFill>
                <a:latin typeface="Inter"/>
                <a:ea typeface="Inter"/>
                <a:cs typeface="Inter"/>
                <a:sym typeface="Inter"/>
              </a:rPr>
              <a:t>Punto clave número dos</a:t>
            </a:r>
            <a:r>
              <a:rPr b="0" i="0" lang="en-US" sz="1800" u="none" cap="none" strike="noStrike">
                <a:solidFill>
                  <a:srgbClr val="2F2F2F"/>
                </a:solidFill>
                <a:latin typeface="Inter"/>
                <a:ea typeface="Inter"/>
                <a:cs typeface="Inter"/>
                <a:sym typeface="Inter"/>
              </a:rPr>
              <a:t> con una breve explicación que complementa la idea principal del bullet.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1333195" y="6001207"/>
            <a:ext cx="381305" cy="762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900"/>
              <a:buFont typeface="Space Mono"/>
              <a:buNone/>
            </a:pPr>
            <a:r>
              <a:rPr b="1" i="0" lang="en-US" sz="19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&gt;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1904695" y="6001207"/>
            <a:ext cx="15621610" cy="762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02D69"/>
                </a:solidFill>
                <a:latin typeface="Inter"/>
                <a:ea typeface="Inter"/>
                <a:cs typeface="Inter"/>
                <a:sym typeface="Inter"/>
              </a:rPr>
              <a:t>Punto clave número tres</a:t>
            </a:r>
            <a:r>
              <a:rPr b="0" i="0" lang="en-US" sz="1800" u="none" cap="none" strike="noStrike">
                <a:solidFill>
                  <a:srgbClr val="2F2F2F"/>
                </a:solidFill>
                <a:latin typeface="Inter"/>
                <a:ea typeface="Inter"/>
                <a:cs typeface="Inter"/>
                <a:sym typeface="Inter"/>
              </a:rPr>
              <a:t> manteniendo siempre la regla de máximo dos líneas por ítem.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1333195" y="7239305"/>
            <a:ext cx="381305" cy="762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900"/>
              <a:buFont typeface="Space Mono"/>
              <a:buNone/>
            </a:pPr>
            <a:r>
              <a:rPr b="1" i="0" lang="en-US" sz="19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&gt;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1904695" y="7239305"/>
            <a:ext cx="15621610" cy="762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02D69"/>
                </a:solidFill>
                <a:latin typeface="Inter"/>
                <a:ea typeface="Inter"/>
                <a:cs typeface="Inter"/>
                <a:sym typeface="Inter"/>
              </a:rPr>
              <a:t>Punto clave número cuatro</a:t>
            </a:r>
            <a:r>
              <a:rPr b="0" i="0" lang="en-US" sz="1800" u="none" cap="none" strike="noStrike">
                <a:solidFill>
                  <a:srgbClr val="2F2F2F"/>
                </a:solidFill>
                <a:latin typeface="Inter"/>
                <a:ea typeface="Inter"/>
                <a:cs typeface="Inter"/>
                <a:sym typeface="Inter"/>
              </a:rPr>
              <a:t> para cerrar la lista; el máximo recomendado son cinco bullets por diapositiva.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1333195" y="97155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Space Mono"/>
                <a:ea typeface="Space Mono"/>
                <a:cs typeface="Space Mono"/>
                <a:sym typeface="Space Mono"/>
              </a:rPr>
              <a:t>CORIOT · CONTROL · ROBÓTICA · IOT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16383305" y="9715500"/>
            <a:ext cx="762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04 / 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eb458a9c2bcc16177a844c41e32e2190.png" id="117" name="Google Shape;117;p7"/>
          <p:cNvPicPr preferRelativeResize="0"/>
          <p:nvPr/>
        </p:nvPicPr>
        <p:blipFill rotWithShape="1">
          <a:blip r:embed="rId3">
            <a:alphaModFix/>
          </a:blip>
          <a:srcRect b="0" l="-80" r="-80" t="0"/>
          <a:stretch/>
        </p:blipFill>
        <p:spPr>
          <a:xfrm>
            <a:off x="0" y="0"/>
            <a:ext cx="18288000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/>
          <p:nvPr/>
        </p:nvSpPr>
        <p:spPr>
          <a:xfrm>
            <a:off x="17335195" y="342900"/>
            <a:ext cx="152705" cy="152705"/>
          </a:xfrm>
          <a:prstGeom prst="rect">
            <a:avLst/>
          </a:prstGeom>
          <a:solidFill>
            <a:srgbClr val="C1489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17563795" y="342900"/>
            <a:ext cx="152705" cy="152705"/>
          </a:xfrm>
          <a:prstGeom prst="rect">
            <a:avLst/>
          </a:prstGeom>
          <a:solidFill>
            <a:srgbClr val="56ACD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 txBox="1"/>
          <p:nvPr/>
        </p:nvSpPr>
        <p:spPr>
          <a:xfrm>
            <a:off x="1333195" y="1238098"/>
            <a:ext cx="15621610" cy="762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4000"/>
              <a:buFont typeface="MuseoModerno"/>
              <a:buNone/>
            </a:pPr>
            <a:r>
              <a:rPr b="1" i="0" lang="en-US" sz="4000" u="none" cap="none" strike="noStrike">
                <a:solidFill>
                  <a:srgbClr val="102D69"/>
                </a:solidFill>
                <a:latin typeface="MuseoModerno"/>
                <a:ea typeface="MuseoModerno"/>
                <a:cs typeface="MuseoModerno"/>
                <a:sym typeface="MuseoModerno"/>
              </a:rPr>
              <a:t>Título de la diapositiva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d578c6887e9a23493392e7273ad5f265.png" id="121" name="Google Shape;121;p7"/>
          <p:cNvPicPr preferRelativeResize="0"/>
          <p:nvPr/>
        </p:nvPicPr>
        <p:blipFill rotWithShape="1">
          <a:blip r:embed="rId4">
            <a:alphaModFix/>
          </a:blip>
          <a:srcRect b="-384" l="0" r="0" t="-384"/>
          <a:stretch/>
        </p:blipFill>
        <p:spPr>
          <a:xfrm>
            <a:off x="1333195" y="2143354"/>
            <a:ext cx="95280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 txBox="1"/>
          <p:nvPr/>
        </p:nvSpPr>
        <p:spPr>
          <a:xfrm>
            <a:off x="1333195" y="2381098"/>
            <a:ext cx="142875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Bajada opcional · comparación o descripción + visual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bb032abadb0cb850c9929048b79a758b.png" id="123" name="Google Shape;123;p7"/>
          <p:cNvPicPr preferRelativeResize="0"/>
          <p:nvPr/>
        </p:nvPicPr>
        <p:blipFill rotWithShape="1">
          <a:blip r:embed="rId5">
            <a:alphaModFix/>
          </a:blip>
          <a:srcRect b="-2089" l="0" r="0" t="-2089"/>
          <a:stretch/>
        </p:blipFill>
        <p:spPr>
          <a:xfrm>
            <a:off x="9144000" y="3429000"/>
            <a:ext cx="9144" cy="552480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 txBox="1"/>
          <p:nvPr/>
        </p:nvSpPr>
        <p:spPr>
          <a:xfrm>
            <a:off x="1333195" y="3429000"/>
            <a:ext cx="7239305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900"/>
              <a:buFont typeface="Space Mono"/>
              <a:buNone/>
            </a:pPr>
            <a:r>
              <a:rPr b="0" i="0" lang="en-US" sz="900" u="none" cap="none" strike="noStrike">
                <a:solidFill>
                  <a:srgbClr val="56ACDE"/>
                </a:solidFill>
                <a:latin typeface="Space Mono"/>
                <a:ea typeface="Space Mono"/>
                <a:cs typeface="Space Mono"/>
                <a:sym typeface="Space Mono"/>
              </a:rPr>
              <a:t>&lt; COLUMNA IZQUIERDA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1333195" y="4000500"/>
            <a:ext cx="3429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800"/>
              <a:buFont typeface="Space Mono"/>
              <a:buNone/>
            </a:pPr>
            <a:r>
              <a:rPr b="1" i="0" lang="en-US" sz="18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&gt;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1809598" y="4000500"/>
            <a:ext cx="68580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02D69"/>
                </a:solidFill>
                <a:latin typeface="Inter"/>
                <a:ea typeface="Inter"/>
                <a:cs typeface="Inter"/>
                <a:sym typeface="Inter"/>
              </a:rPr>
              <a:t>Idea uno</a:t>
            </a:r>
            <a:r>
              <a:rPr b="0" i="0" lang="en-US" sz="1600" u="none" cap="none" strike="noStrike">
                <a:solidFill>
                  <a:srgbClr val="2F2F2F"/>
                </a:solidFill>
                <a:latin typeface="Inter"/>
                <a:ea typeface="Inter"/>
                <a:cs typeface="Inter"/>
                <a:sym typeface="Inter"/>
              </a:rPr>
              <a:t> con una explicación breve que cabe en máximo dos líneas de texto.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1333195" y="4953305"/>
            <a:ext cx="3429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800"/>
              <a:buFont typeface="Space Mono"/>
              <a:buNone/>
            </a:pPr>
            <a:r>
              <a:rPr b="1" i="0" lang="en-US" sz="18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&gt;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1809598" y="4953305"/>
            <a:ext cx="68580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02D69"/>
                </a:solidFill>
                <a:latin typeface="Inter"/>
                <a:ea typeface="Inter"/>
                <a:cs typeface="Inter"/>
                <a:sym typeface="Inter"/>
              </a:rPr>
              <a:t>Idea dos</a:t>
            </a:r>
            <a:r>
              <a:rPr b="0" i="0" lang="en-US" sz="1600" u="none" cap="none" strike="noStrike">
                <a:solidFill>
                  <a:srgbClr val="2F2F2F"/>
                </a:solidFill>
                <a:latin typeface="Inter"/>
                <a:ea typeface="Inter"/>
                <a:cs typeface="Inter"/>
                <a:sym typeface="Inter"/>
              </a:rPr>
              <a:t> manteniendo paralelismo en estructura con la anterior.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1333195" y="5905195"/>
            <a:ext cx="3429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800"/>
              <a:buFont typeface="Space Mono"/>
              <a:buNone/>
            </a:pPr>
            <a:r>
              <a:rPr b="1" i="0" lang="en-US" sz="18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&gt;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1809598" y="5905195"/>
            <a:ext cx="68580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02D69"/>
                </a:solidFill>
                <a:latin typeface="Inter"/>
                <a:ea typeface="Inter"/>
                <a:cs typeface="Inter"/>
                <a:sym typeface="Inter"/>
              </a:rPr>
              <a:t>Idea tres</a:t>
            </a:r>
            <a:r>
              <a:rPr b="0" i="0" lang="en-US" sz="1600" u="none" cap="none" strike="noStrike">
                <a:solidFill>
                  <a:srgbClr val="2F2F2F"/>
                </a:solidFill>
                <a:latin typeface="Inter"/>
                <a:ea typeface="Inter"/>
                <a:cs typeface="Inter"/>
                <a:sym typeface="Inter"/>
              </a:rPr>
              <a:t> cerrando la lista, máximo 3 a 4 puntos por columna.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20d98c4dca67d9d4cfb1614ff9d485e2.png" id="131" name="Google Shape;131;p7"/>
          <p:cNvPicPr preferRelativeResize="0"/>
          <p:nvPr/>
        </p:nvPicPr>
        <p:blipFill rotWithShape="1">
          <a:blip r:embed="rId6">
            <a:alphaModFix/>
          </a:blip>
          <a:srcRect b="-397" l="0" r="0" t="-397"/>
          <a:stretch/>
        </p:blipFill>
        <p:spPr>
          <a:xfrm>
            <a:off x="1333195" y="7239305"/>
            <a:ext cx="28346" cy="123809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 txBox="1"/>
          <p:nvPr/>
        </p:nvSpPr>
        <p:spPr>
          <a:xfrm>
            <a:off x="1619402" y="7239305"/>
            <a:ext cx="7049110" cy="1239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500"/>
              <a:buFont typeface="MuseoModerno"/>
              <a:buNone/>
            </a:pPr>
            <a:r>
              <a:rPr b="0" i="1" lang="en-US" sz="1500" u="none" cap="none" strike="noStrike">
                <a:solidFill>
                  <a:srgbClr val="102D69"/>
                </a:solidFill>
                <a:latin typeface="MuseoModerno"/>
                <a:ea typeface="MuseoModerno"/>
                <a:cs typeface="MuseoModerno"/>
                <a:sym typeface="MuseoModerno"/>
              </a:rPr>
              <a:t>“Frase destacada o cita que refuerza la idea principal de la columna.”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9715500" y="3429000"/>
            <a:ext cx="7239305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900"/>
              <a:buFont typeface="Space Mono"/>
              <a:buNone/>
            </a:pPr>
            <a:r>
              <a:rPr b="0" i="0" lang="en-US" sz="900" u="none" cap="none" strike="noStrike">
                <a:solidFill>
                  <a:srgbClr val="56ACDE"/>
                </a:solidFill>
                <a:latin typeface="Space Mono"/>
                <a:ea typeface="Space Mono"/>
                <a:cs typeface="Space Mono"/>
                <a:sym typeface="Space Mono"/>
              </a:rPr>
              <a:t>&lt; COLUMNA DERECHA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9715500" y="3905402"/>
            <a:ext cx="7239305" cy="4190695"/>
          </a:xfrm>
          <a:prstGeom prst="rect">
            <a:avLst/>
          </a:prstGeom>
          <a:solidFill>
            <a:srgbClr val="EBF4FB"/>
          </a:solidFill>
          <a:ln cap="flat" cmpd="sng" w="12700">
            <a:solidFill>
              <a:srgbClr val="56AC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 txBox="1"/>
          <p:nvPr/>
        </p:nvSpPr>
        <p:spPr>
          <a:xfrm>
            <a:off x="9715500" y="4762195"/>
            <a:ext cx="7239305" cy="2477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D2EB"/>
              </a:buClr>
              <a:buSzPts val="10500"/>
              <a:buFont typeface="MuseoModerno"/>
              <a:buNone/>
            </a:pPr>
            <a:r>
              <a:rPr b="1" i="0" lang="en-US" sz="10500" u="none" cap="none" strike="noStrike">
                <a:solidFill>
                  <a:srgbClr val="A6D2EB"/>
                </a:solidFill>
                <a:latin typeface="MuseoModerno"/>
                <a:ea typeface="MuseoModerno"/>
                <a:cs typeface="MuseoModerno"/>
                <a:sym typeface="MuseoModerno"/>
              </a:rPr>
              <a:t>&lt;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9715500" y="7334402"/>
            <a:ext cx="7239305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56ACDE"/>
                </a:solidFill>
                <a:latin typeface="Inter"/>
                <a:ea typeface="Inter"/>
                <a:cs typeface="Inter"/>
                <a:sym typeface="Inter"/>
              </a:rPr>
              <a:t>[ Imagen, gráfico o dato destacado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9715500" y="7677302"/>
            <a:ext cx="72393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Reemplazar con visual de soporte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9715500" y="8334756"/>
            <a:ext cx="7239305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4894"/>
              </a:buClr>
              <a:buSzPts val="1000"/>
              <a:buFont typeface="Space Mono"/>
              <a:buNone/>
            </a:pPr>
            <a:r>
              <a:rPr b="1" i="0" lang="en-US" sz="1000" u="none" cap="none" strike="noStrike">
                <a:solidFill>
                  <a:srgbClr val="C14894"/>
                </a:solidFill>
                <a:latin typeface="Space Mono"/>
                <a:ea typeface="Space Mono"/>
                <a:cs typeface="Space Mono"/>
                <a:sym typeface="Space Mono"/>
              </a:rPr>
              <a:t>Fig. 01 ·</a:t>
            </a:r>
            <a:r>
              <a:rPr b="0" i="0" lang="en-US" sz="1000" u="none" cap="none" strike="noStrike">
                <a:solidFill>
                  <a:srgbClr val="2F2F2F"/>
                </a:solidFill>
                <a:latin typeface="Inter"/>
                <a:ea typeface="Inter"/>
                <a:cs typeface="Inter"/>
                <a:sym typeface="Inter"/>
              </a:rPr>
              <a:t> Pie de imagen o descripción breve del visual.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1333195" y="97155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Space Mono"/>
                <a:ea typeface="Space Mono"/>
                <a:cs typeface="Space Mono"/>
                <a:sym typeface="Space Mono"/>
              </a:rPr>
              <a:t>CORIOT · CONTROL · ROBÓTICA · IOT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16383305" y="9715500"/>
            <a:ext cx="762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05 / 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eb458a9c2bcc16177a844c41e32e2190.png"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-80" r="-80" t="0"/>
          <a:stretch/>
        </p:blipFill>
        <p:spPr>
          <a:xfrm>
            <a:off x="0" y="0"/>
            <a:ext cx="18288000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/>
          <p:nvPr/>
        </p:nvSpPr>
        <p:spPr>
          <a:xfrm>
            <a:off x="17335195" y="342900"/>
            <a:ext cx="152705" cy="152705"/>
          </a:xfrm>
          <a:prstGeom prst="rect">
            <a:avLst/>
          </a:prstGeom>
          <a:solidFill>
            <a:srgbClr val="C1489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17563795" y="342900"/>
            <a:ext cx="152705" cy="152705"/>
          </a:xfrm>
          <a:prstGeom prst="rect">
            <a:avLst/>
          </a:prstGeom>
          <a:solidFill>
            <a:srgbClr val="56ACD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1333195" y="1238098"/>
            <a:ext cx="15621610" cy="762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4000"/>
              <a:buFont typeface="MuseoModerno"/>
              <a:buNone/>
            </a:pPr>
            <a:r>
              <a:rPr b="1" i="0" lang="en-US" sz="4000" u="none" cap="none" strike="noStrike">
                <a:solidFill>
                  <a:srgbClr val="102D69"/>
                </a:solidFill>
                <a:latin typeface="MuseoModerno"/>
                <a:ea typeface="MuseoModerno"/>
                <a:cs typeface="MuseoModerno"/>
                <a:sym typeface="MuseoModerno"/>
              </a:rPr>
              <a:t>Título técnico / fragmento de código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d578c6887e9a23493392e7273ad5f265.png" id="151" name="Google Shape;151;p8"/>
          <p:cNvPicPr preferRelativeResize="0"/>
          <p:nvPr/>
        </p:nvPicPr>
        <p:blipFill rotWithShape="1">
          <a:blip r:embed="rId4">
            <a:alphaModFix/>
          </a:blip>
          <a:srcRect b="-384" l="0" r="0" t="-384"/>
          <a:stretch/>
        </p:blipFill>
        <p:spPr>
          <a:xfrm>
            <a:off x="1333195" y="2143354"/>
            <a:ext cx="95280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 txBox="1"/>
          <p:nvPr/>
        </p:nvSpPr>
        <p:spPr>
          <a:xfrm>
            <a:off x="1333195" y="2381098"/>
            <a:ext cx="142875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Bajada · qué hace el código y dónde se ejecuta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1333195" y="3429000"/>
            <a:ext cx="15620695" cy="418795"/>
          </a:xfrm>
          <a:prstGeom prst="rect">
            <a:avLst/>
          </a:prstGeom>
          <a:solidFill>
            <a:srgbClr val="102D6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 txBox="1"/>
          <p:nvPr/>
        </p:nvSpPr>
        <p:spPr>
          <a:xfrm>
            <a:off x="1524305" y="3543300"/>
            <a:ext cx="7620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900"/>
              <a:buFont typeface="Space Mono"/>
              <a:buNone/>
            </a:pPr>
            <a:r>
              <a:rPr b="1" i="0" lang="en-US" sz="900" u="none" cap="none" strike="noStrike">
                <a:solidFill>
                  <a:srgbClr val="56ACDE"/>
                </a:solidFill>
                <a:latin typeface="Space Mono"/>
                <a:ea typeface="Space Mono"/>
                <a:cs typeface="Space Mono"/>
                <a:sym typeface="Space Mono"/>
              </a:rPr>
              <a:t>&lt;/&gt; PYTHON · sensor_read.py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15620695" y="35433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C2D6"/>
              </a:buClr>
              <a:buSzPts val="900"/>
              <a:buFont typeface="Space Mono"/>
              <a:buNone/>
            </a:pPr>
            <a:r>
              <a:rPr b="0" i="0" lang="en-US" sz="900" u="none" cap="none" strike="noStrike">
                <a:solidFill>
                  <a:srgbClr val="B8C2D6"/>
                </a:solidFill>
                <a:latin typeface="Space Mono"/>
                <a:ea typeface="Space Mono"/>
                <a:cs typeface="Space Mono"/>
                <a:sym typeface="Space Mono"/>
              </a:rPr>
              <a:t>14 líneas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1333195" y="3847795"/>
            <a:ext cx="15620695" cy="45720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dfd08f51278c54e77da9da1b926bd3b3.png" id="157" name="Google Shape;157;p8"/>
          <p:cNvPicPr preferRelativeResize="0"/>
          <p:nvPr/>
        </p:nvPicPr>
        <p:blipFill rotWithShape="1">
          <a:blip r:embed="rId5">
            <a:alphaModFix/>
          </a:blip>
          <a:srcRect b="0" l="-400" r="-400" t="0"/>
          <a:stretch/>
        </p:blipFill>
        <p:spPr>
          <a:xfrm>
            <a:off x="1333195" y="3847795"/>
            <a:ext cx="3840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 txBox="1"/>
          <p:nvPr/>
        </p:nvSpPr>
        <p:spPr>
          <a:xfrm>
            <a:off x="1752905" y="4114800"/>
            <a:ext cx="150501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500"/>
              <a:buFont typeface="Space Mono"/>
              <a:buNone/>
            </a:pPr>
            <a:r>
              <a:rPr b="0" i="1" lang="en-US" sz="1500" u="none" cap="none" strike="noStrike">
                <a:solidFill>
                  <a:srgbClr val="AAAAAA"/>
                </a:solidFill>
                <a:latin typeface="Space Mono"/>
                <a:ea typeface="Space Mono"/>
                <a:cs typeface="Space Mono"/>
                <a:sym typeface="Space Mono"/>
              </a:rPr>
              <a:t># Lectura de sensor de temperatura DS18B20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1752905" y="4438498"/>
            <a:ext cx="150501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500"/>
              <a:buFont typeface="Space Mono"/>
              <a:buNone/>
            </a:pPr>
            <a:r>
              <a:rPr b="0" i="1" lang="en-US" sz="1500" u="none" cap="none" strike="noStrike">
                <a:solidFill>
                  <a:srgbClr val="AAAAAA"/>
                </a:solidFill>
                <a:latin typeface="Space Mono"/>
                <a:ea typeface="Space Mono"/>
                <a:cs typeface="Space Mono"/>
                <a:sym typeface="Space Mono"/>
              </a:rPr>
              <a:t># Laboratorio CORIOT · ITM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1752905" y="4934102"/>
            <a:ext cx="150501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500"/>
              <a:buFont typeface="Space Mono"/>
              <a:buNone/>
            </a:pPr>
            <a:r>
              <a:rPr b="1" i="0" lang="en-US" sz="15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import</a:t>
            </a:r>
            <a:r>
              <a:rPr b="0" i="0" lang="en-US" sz="1500" u="none" cap="none" strike="noStrike">
                <a:solidFill>
                  <a:srgbClr val="2F2F2F"/>
                </a:solidFill>
                <a:latin typeface="Space Mono"/>
                <a:ea typeface="Space Mono"/>
                <a:cs typeface="Space Mono"/>
                <a:sym typeface="Space Mono"/>
              </a:rPr>
              <a:t> time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1752905" y="5257800"/>
            <a:ext cx="150501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500"/>
              <a:buFont typeface="Space Mono"/>
              <a:buNone/>
            </a:pPr>
            <a:r>
              <a:rPr b="1" i="0" lang="en-US" sz="15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from</a:t>
            </a:r>
            <a:r>
              <a:rPr b="0" i="0" lang="en-US" sz="1500" u="none" cap="none" strike="noStrike">
                <a:solidFill>
                  <a:srgbClr val="2F2F2F"/>
                </a:solidFill>
                <a:latin typeface="Space Mono"/>
                <a:ea typeface="Space Mono"/>
                <a:cs typeface="Space Mono"/>
                <a:sym typeface="Space Mono"/>
              </a:rPr>
              <a:t> w1thermsensor </a:t>
            </a:r>
            <a:r>
              <a:rPr b="1" i="0" lang="en-US" sz="15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import</a:t>
            </a:r>
            <a:r>
              <a:rPr b="0" i="0" lang="en-US" sz="1500" u="none" cap="none" strike="noStrike">
                <a:solidFill>
                  <a:srgbClr val="2F2F2F"/>
                </a:solidFill>
                <a:latin typeface="Space Mono"/>
                <a:ea typeface="Space Mono"/>
                <a:cs typeface="Space Mono"/>
                <a:sym typeface="Space Mono"/>
              </a:rPr>
              <a:t> W1ThermSensor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1752905" y="5753405"/>
            <a:ext cx="150501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1500"/>
              <a:buFont typeface="Space Mono"/>
              <a:buNone/>
            </a:pPr>
            <a:r>
              <a:rPr b="0" i="0" lang="en-US" sz="1500" u="none" cap="none" strike="noStrike">
                <a:solidFill>
                  <a:srgbClr val="2F2F2F"/>
                </a:solidFill>
                <a:latin typeface="Space Mono"/>
                <a:ea typeface="Space Mono"/>
                <a:cs typeface="Space Mono"/>
                <a:sym typeface="Space Mono"/>
              </a:rPr>
              <a:t>sensor = W1ThermSensor()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1752905" y="6248095"/>
            <a:ext cx="150501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500"/>
              <a:buFont typeface="Space Mono"/>
              <a:buNone/>
            </a:pPr>
            <a:r>
              <a:rPr b="1" i="0" lang="en-US" sz="15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whileTrue</a:t>
            </a:r>
            <a:r>
              <a:rPr b="0" i="0" lang="en-US" sz="1500" u="none" cap="none" strike="noStrike">
                <a:solidFill>
                  <a:srgbClr val="2F2F2F"/>
                </a:solidFill>
                <a:latin typeface="Space Mono"/>
                <a:ea typeface="Space Mono"/>
                <a:cs typeface="Space Mono"/>
                <a:sym typeface="Space Mono"/>
              </a:rPr>
              <a:t>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1752905" y="6572707"/>
            <a:ext cx="150501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1500"/>
              <a:buFont typeface="Space Mono"/>
              <a:buNone/>
            </a:pPr>
            <a:r>
              <a:rPr b="0" i="0" lang="en-US" sz="1500" u="none" cap="none" strike="noStrike">
                <a:solidFill>
                  <a:srgbClr val="2F2F2F"/>
                </a:solidFill>
                <a:latin typeface="Space Mono"/>
                <a:ea typeface="Space Mono"/>
                <a:cs typeface="Space Mono"/>
                <a:sym typeface="Space Mono"/>
              </a:rPr>
              <a:t>temp = sensor.get_temperature()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1752905" y="6896405"/>
            <a:ext cx="150501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1500"/>
              <a:buFont typeface="Space Mono"/>
              <a:buNone/>
            </a:pPr>
            <a:r>
              <a:rPr b="1" i="0" lang="en-US" sz="15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print</a:t>
            </a:r>
            <a:r>
              <a:rPr b="0" i="0" lang="en-US" sz="1500" u="none" cap="none" strike="noStrike">
                <a:solidFill>
                  <a:srgbClr val="2F2F2F"/>
                </a:solidFill>
                <a:latin typeface="Space Mono"/>
                <a:ea typeface="Space Mono"/>
                <a:cs typeface="Space Mono"/>
                <a:sym typeface="Space Mono"/>
              </a:rPr>
              <a:t>(</a:t>
            </a:r>
            <a:r>
              <a:rPr b="0" i="0" lang="en-US" sz="1500" u="none" cap="none" strike="noStrike">
                <a:solidFill>
                  <a:srgbClr val="C14894"/>
                </a:solidFill>
                <a:latin typeface="Space Mono"/>
                <a:ea typeface="Space Mono"/>
                <a:cs typeface="Space Mono"/>
                <a:sym typeface="Space Mono"/>
              </a:rPr>
              <a:t>f"Temperatura: {temp:.2f} °C"</a:t>
            </a:r>
            <a:r>
              <a:rPr b="0" i="0" lang="en-US" sz="1500" u="none" cap="none" strike="noStrike">
                <a:solidFill>
                  <a:srgbClr val="2F2F2F"/>
                </a:solidFill>
                <a:latin typeface="Space Mono"/>
                <a:ea typeface="Space Mono"/>
                <a:cs typeface="Space Mono"/>
                <a:sym typeface="Space Mono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1752905" y="7220102"/>
            <a:ext cx="150501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1500"/>
              <a:buFont typeface="Space Mono"/>
              <a:buNone/>
            </a:pPr>
            <a:r>
              <a:rPr b="0" i="0" lang="en-US" sz="1500" u="none" cap="none" strike="noStrike">
                <a:solidFill>
                  <a:srgbClr val="2F2F2F"/>
                </a:solidFill>
                <a:latin typeface="Space Mono"/>
                <a:ea typeface="Space Mono"/>
                <a:cs typeface="Space Mono"/>
                <a:sym typeface="Space Mono"/>
              </a:rPr>
              <a:t>time.sleep(</a:t>
            </a:r>
            <a:r>
              <a:rPr b="0" i="0" lang="en-US" sz="1500" u="none" cap="none" strike="noStrike">
                <a:solidFill>
                  <a:srgbClr val="C14894"/>
                </a:solidFill>
                <a:latin typeface="Space Mono"/>
                <a:ea typeface="Space Mono"/>
                <a:cs typeface="Space Mono"/>
                <a:sym typeface="Space Mono"/>
              </a:rPr>
              <a:t>1.0</a:t>
            </a:r>
            <a:r>
              <a:rPr b="0" i="0" lang="en-US" sz="1500" u="none" cap="none" strike="noStrike">
                <a:solidFill>
                  <a:srgbClr val="2F2F2F"/>
                </a:solidFill>
                <a:latin typeface="Space Mono"/>
                <a:ea typeface="Space Mono"/>
                <a:cs typeface="Space Mono"/>
                <a:sym typeface="Space Mono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1333195" y="8762695"/>
            <a:ext cx="156216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4894"/>
              </a:buClr>
              <a:buSzPts val="1300"/>
              <a:buFont typeface="Space Mono"/>
              <a:buNone/>
            </a:pPr>
            <a:r>
              <a:rPr b="1" i="0" lang="en-US" sz="1300" u="none" cap="none" strike="noStrike">
                <a:solidFill>
                  <a:srgbClr val="C14894"/>
                </a:solidFill>
                <a:latin typeface="Space Mono"/>
                <a:ea typeface="Space Mono"/>
                <a:cs typeface="Space Mono"/>
                <a:sym typeface="Space Mono"/>
              </a:rPr>
              <a:t>NOTA ·</a:t>
            </a:r>
            <a:r>
              <a:rPr b="0" i="0" lang="en-US" sz="1300" u="none" cap="none" strike="noStrike">
                <a:solidFill>
                  <a:srgbClr val="2F2F2F"/>
                </a:solidFill>
                <a:latin typeface="Inter"/>
                <a:ea typeface="Inter"/>
                <a:cs typeface="Inter"/>
                <a:sym typeface="Inter"/>
              </a:rPr>
              <a:t> Comentarios en gris cursiva · keywords en azul ITM · strings en magenta.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1333195" y="97155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Space Mono"/>
                <a:ea typeface="Space Mono"/>
                <a:cs typeface="Space Mono"/>
                <a:sym typeface="Space Mono"/>
              </a:rPr>
              <a:t>CORIOT · CONTROL · ROBÓTICA · IOT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16383305" y="9715500"/>
            <a:ext cx="762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06 / 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eb458a9c2bcc16177a844c41e32e2190.png" id="176" name="Google Shape;176;p9"/>
          <p:cNvPicPr preferRelativeResize="0"/>
          <p:nvPr/>
        </p:nvPicPr>
        <p:blipFill rotWithShape="1">
          <a:blip r:embed="rId3">
            <a:alphaModFix/>
          </a:blip>
          <a:srcRect b="0" l="-80" r="-80" t="0"/>
          <a:stretch/>
        </p:blipFill>
        <p:spPr>
          <a:xfrm>
            <a:off x="0" y="0"/>
            <a:ext cx="18288000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/>
          <p:nvPr/>
        </p:nvSpPr>
        <p:spPr>
          <a:xfrm>
            <a:off x="17335195" y="342900"/>
            <a:ext cx="152705" cy="152705"/>
          </a:xfrm>
          <a:prstGeom prst="rect">
            <a:avLst/>
          </a:prstGeom>
          <a:solidFill>
            <a:srgbClr val="C1489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17563795" y="342900"/>
            <a:ext cx="152705" cy="152705"/>
          </a:xfrm>
          <a:prstGeom prst="rect">
            <a:avLst/>
          </a:prstGeom>
          <a:solidFill>
            <a:srgbClr val="56ACD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 txBox="1"/>
          <p:nvPr/>
        </p:nvSpPr>
        <p:spPr>
          <a:xfrm>
            <a:off x="1333195" y="1238098"/>
            <a:ext cx="15621610" cy="762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4000"/>
              <a:buFont typeface="MuseoModerno"/>
              <a:buNone/>
            </a:pPr>
            <a:r>
              <a:rPr b="1" i="0" lang="en-US" sz="4000" u="none" cap="none" strike="noStrike">
                <a:solidFill>
                  <a:srgbClr val="102D69"/>
                </a:solidFill>
                <a:latin typeface="MuseoModerno"/>
                <a:ea typeface="MuseoModerno"/>
                <a:cs typeface="MuseoModerno"/>
                <a:sym typeface="MuseoModerno"/>
              </a:rPr>
              <a:t>Resultados / cifras clave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d578c6887e9a23493392e7273ad5f265.png" id="180" name="Google Shape;180;p9"/>
          <p:cNvPicPr preferRelativeResize="0"/>
          <p:nvPr/>
        </p:nvPicPr>
        <p:blipFill rotWithShape="1">
          <a:blip r:embed="rId4">
            <a:alphaModFix/>
          </a:blip>
          <a:srcRect b="-384" l="0" r="0" t="-384"/>
          <a:stretch/>
        </p:blipFill>
        <p:spPr>
          <a:xfrm>
            <a:off x="1333195" y="2143354"/>
            <a:ext cx="95280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9"/>
          <p:cNvSpPr txBox="1"/>
          <p:nvPr/>
        </p:nvSpPr>
        <p:spPr>
          <a:xfrm>
            <a:off x="1333195" y="2381098"/>
            <a:ext cx="142875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Bajada · contexto de los datos o periodo de medición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1333195" y="4095598"/>
            <a:ext cx="49533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900"/>
              <a:buFont typeface="Space Mono"/>
              <a:buNone/>
            </a:pPr>
            <a:r>
              <a:rPr b="0" i="0" lang="en-US" sz="900" u="none" cap="none" strike="noStrike">
                <a:solidFill>
                  <a:srgbClr val="56ACDE"/>
                </a:solidFill>
                <a:latin typeface="Space Mono"/>
                <a:ea typeface="Space Mono"/>
                <a:cs typeface="Space Mono"/>
                <a:sym typeface="Space Mono"/>
              </a:rPr>
              <a:t>&lt; MÉTRICA UNO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1333195" y="4429354"/>
            <a:ext cx="3238805" cy="1810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9000"/>
              <a:buFont typeface="MuseoModerno"/>
              <a:buNone/>
            </a:pPr>
            <a:r>
              <a:rPr b="1" i="0" lang="en-US" sz="9000" u="none" cap="none" strike="noStrike">
                <a:solidFill>
                  <a:srgbClr val="102D69"/>
                </a:solidFill>
                <a:latin typeface="MuseoModerno"/>
                <a:ea typeface="MuseoModerno"/>
                <a:cs typeface="MuseoModerno"/>
                <a:sym typeface="MuseoModerno"/>
              </a:rPr>
              <a:t>95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3010205" y="4619549"/>
            <a:ext cx="1143000" cy="762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4000"/>
              <a:buFont typeface="MuseoModerno"/>
              <a:buNone/>
            </a:pPr>
            <a:r>
              <a:rPr b="1" i="0" lang="en-US" sz="4000" u="none" cap="none" strike="noStrike">
                <a:solidFill>
                  <a:srgbClr val="56ACDE"/>
                </a:solidFill>
                <a:latin typeface="MuseoModerno"/>
                <a:ea typeface="MuseoModerno"/>
                <a:cs typeface="MuseoModerno"/>
                <a:sym typeface="MuseoModerno"/>
              </a:rPr>
              <a:t>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1333195" y="6096305"/>
            <a:ext cx="4953305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2F2F2F"/>
                </a:solidFill>
                <a:latin typeface="Inter"/>
                <a:ea typeface="Inter"/>
                <a:cs typeface="Inter"/>
                <a:sym typeface="Inter"/>
              </a:rPr>
              <a:t>Etiqueta de la métrica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1333195" y="6458407"/>
            <a:ext cx="4953305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Descripción de una línea que contextualiza la cifra principal.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7ec8e9d13fba759e7412c5b5f65d974a.png" id="187" name="Google Shape;187;p9"/>
          <p:cNvPicPr preferRelativeResize="0"/>
          <p:nvPr/>
        </p:nvPicPr>
        <p:blipFill rotWithShape="1">
          <a:blip r:embed="rId5">
            <a:alphaModFix/>
          </a:blip>
          <a:srcRect b="-2083" l="0" r="0" t="-2083"/>
          <a:stretch/>
        </p:blipFill>
        <p:spPr>
          <a:xfrm>
            <a:off x="6667805" y="4238244"/>
            <a:ext cx="9144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9"/>
          <p:cNvSpPr txBox="1"/>
          <p:nvPr/>
        </p:nvSpPr>
        <p:spPr>
          <a:xfrm>
            <a:off x="7048195" y="4095598"/>
            <a:ext cx="49533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4894"/>
              </a:buClr>
              <a:buSzPts val="900"/>
              <a:buFont typeface="Space Mono"/>
              <a:buNone/>
            </a:pPr>
            <a:r>
              <a:rPr b="0" i="0" lang="en-US" sz="900" u="none" cap="none" strike="noStrike">
                <a:solidFill>
                  <a:srgbClr val="C14894"/>
                </a:solidFill>
                <a:latin typeface="Space Mono"/>
                <a:ea typeface="Space Mono"/>
                <a:cs typeface="Space Mono"/>
                <a:sym typeface="Space Mono"/>
              </a:rPr>
              <a:t>&lt; MÉTRICA 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7048195" y="4429354"/>
            <a:ext cx="3238805" cy="1810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9000"/>
              <a:buFont typeface="MuseoModerno"/>
              <a:buNone/>
            </a:pPr>
            <a:r>
              <a:rPr b="1" i="0" lang="en-US" sz="9000" u="none" cap="none" strike="noStrike">
                <a:solidFill>
                  <a:srgbClr val="102D69"/>
                </a:solidFill>
                <a:latin typeface="MuseoModerno"/>
                <a:ea typeface="MuseoModerno"/>
                <a:cs typeface="MuseoModerno"/>
                <a:sym typeface="MuseoModerno"/>
              </a:rPr>
              <a:t>1.2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9239098" y="4619549"/>
            <a:ext cx="1143000" cy="762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4894"/>
              </a:buClr>
              <a:buSzPts val="4000"/>
              <a:buFont typeface="MuseoModerno"/>
              <a:buNone/>
            </a:pPr>
            <a:r>
              <a:rPr b="1" i="0" lang="en-US" sz="4000" u="none" cap="none" strike="noStrike">
                <a:solidFill>
                  <a:srgbClr val="C14894"/>
                </a:solidFill>
                <a:latin typeface="MuseoModerno"/>
                <a:ea typeface="MuseoModerno"/>
                <a:cs typeface="MuseoModerno"/>
                <a:sym typeface="MuseoModerno"/>
              </a:rPr>
              <a:t>k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7048195" y="6096305"/>
            <a:ext cx="4953305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2F2F2F"/>
                </a:solidFill>
                <a:latin typeface="Inter"/>
                <a:ea typeface="Inter"/>
                <a:cs typeface="Inter"/>
                <a:sym typeface="Inter"/>
              </a:rPr>
              <a:t>Etiqueta de la métrica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7048195" y="6458407"/>
            <a:ext cx="4953305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Descripción de una línea que contextualiza la cifra principal.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7ec8e9d13fba759e7412c5b5f65d974a.png" id="193" name="Google Shape;193;p9"/>
          <p:cNvPicPr preferRelativeResize="0"/>
          <p:nvPr/>
        </p:nvPicPr>
        <p:blipFill rotWithShape="1">
          <a:blip r:embed="rId5">
            <a:alphaModFix/>
          </a:blip>
          <a:srcRect b="-2083" l="0" r="0" t="-2083"/>
          <a:stretch/>
        </p:blipFill>
        <p:spPr>
          <a:xfrm>
            <a:off x="12382805" y="4238244"/>
            <a:ext cx="9144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 txBox="1"/>
          <p:nvPr/>
        </p:nvSpPr>
        <p:spPr>
          <a:xfrm>
            <a:off x="12763195" y="4095598"/>
            <a:ext cx="49533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900"/>
              <a:buFont typeface="Space Mono"/>
              <a:buNone/>
            </a:pPr>
            <a:r>
              <a:rPr b="0" i="0" lang="en-US" sz="900" u="none" cap="none" strike="noStrike">
                <a:solidFill>
                  <a:srgbClr val="56ACDE"/>
                </a:solidFill>
                <a:latin typeface="Space Mono"/>
                <a:ea typeface="Space Mono"/>
                <a:cs typeface="Space Mono"/>
                <a:sym typeface="Space Mono"/>
              </a:rPr>
              <a:t>&lt; MÉTRICA TRES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12763195" y="4429354"/>
            <a:ext cx="2286000" cy="1810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9000"/>
              <a:buFont typeface="MuseoModerno"/>
              <a:buNone/>
            </a:pPr>
            <a:r>
              <a:rPr b="1" i="0" lang="en-US" sz="9000" u="none" cap="none" strike="noStrike">
                <a:solidFill>
                  <a:srgbClr val="102D69"/>
                </a:solidFill>
                <a:latin typeface="MuseoModerno"/>
                <a:ea typeface="MuseoModerno"/>
                <a:cs typeface="MuseoModerno"/>
                <a:sym typeface="MuseoModerno"/>
              </a:rPr>
              <a:t>24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14335049" y="4619549"/>
            <a:ext cx="1334110" cy="762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4000"/>
              <a:buFont typeface="MuseoModerno"/>
              <a:buNone/>
            </a:pPr>
            <a:r>
              <a:rPr b="1" i="0" lang="en-US" sz="4000" u="none" cap="none" strike="noStrike">
                <a:solidFill>
                  <a:srgbClr val="56ACDE"/>
                </a:solidFill>
                <a:latin typeface="MuseoModerno"/>
                <a:ea typeface="MuseoModerno"/>
                <a:cs typeface="MuseoModerno"/>
                <a:sym typeface="MuseoModerno"/>
              </a:rPr>
              <a:t>/7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12763195" y="6096305"/>
            <a:ext cx="4953305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2F2F2F"/>
                </a:solidFill>
                <a:latin typeface="Inter"/>
                <a:ea typeface="Inter"/>
                <a:cs typeface="Inter"/>
                <a:sym typeface="Inter"/>
              </a:rPr>
              <a:t>Etiqueta de la métrica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12763195" y="6458407"/>
            <a:ext cx="4953305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Descripción de una línea que contextualiza la cifra principal.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9397ef5df052c5ce5c077487cd8df2f9.png" id="199" name="Google Shape;199;p9"/>
          <p:cNvPicPr preferRelativeResize="0"/>
          <p:nvPr/>
        </p:nvPicPr>
        <p:blipFill rotWithShape="1">
          <a:blip r:embed="rId6">
            <a:alphaModFix/>
          </a:blip>
          <a:srcRect b="0" l="-2083" r="-2083" t="0"/>
          <a:stretch/>
        </p:blipFill>
        <p:spPr>
          <a:xfrm>
            <a:off x="1333195" y="7619695"/>
            <a:ext cx="1562069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9"/>
          <p:cNvSpPr txBox="1"/>
          <p:nvPr/>
        </p:nvSpPr>
        <p:spPr>
          <a:xfrm>
            <a:off x="1333195" y="8001000"/>
            <a:ext cx="1562161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4894"/>
              </a:buClr>
              <a:buSzPts val="1200"/>
              <a:buFont typeface="Space Mono"/>
              <a:buNone/>
            </a:pPr>
            <a:r>
              <a:rPr b="1" i="0" lang="en-US" sz="1200" u="none" cap="none" strike="noStrike">
                <a:solidFill>
                  <a:srgbClr val="C14894"/>
                </a:solidFill>
                <a:latin typeface="Space Mono"/>
                <a:ea typeface="Space Mono"/>
                <a:cs typeface="Space Mono"/>
                <a:sym typeface="Space Mono"/>
              </a:rPr>
              <a:t>FUENTE ·</a:t>
            </a:r>
            <a:r>
              <a:rPr b="0" i="0" lang="en-US" sz="1200" u="none" cap="none" strike="noStrike">
                <a:solidFill>
                  <a:srgbClr val="2F2F2F"/>
                </a:solidFill>
                <a:latin typeface="Inter"/>
                <a:ea typeface="Inter"/>
                <a:cs typeface="Inter"/>
                <a:sym typeface="Inter"/>
              </a:rPr>
              <a:t> Reemplazar con la procedencia de los datos · estudio, medición o referencia oficial.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1333195" y="97155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Space Mono"/>
                <a:ea typeface="Space Mono"/>
                <a:cs typeface="Space Mono"/>
                <a:sym typeface="Space Mono"/>
              </a:rPr>
              <a:t>CORIOT · CONTROL · ROBÓTICA · IOT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16383305" y="9715500"/>
            <a:ext cx="762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102D69"/>
                </a:solidFill>
                <a:latin typeface="Space Mono"/>
                <a:ea typeface="Space Mono"/>
                <a:cs typeface="Space Mono"/>
                <a:sym typeface="Space Mono"/>
              </a:rPr>
              <a:t>07 / 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02D6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-dedup-041e0b9501a3793180208714255da0b3.png" id="209" name="Google Shape;209;p10"/>
          <p:cNvPicPr preferRelativeResize="0"/>
          <p:nvPr/>
        </p:nvPicPr>
        <p:blipFill rotWithShape="1">
          <a:blip r:embed="rId3">
            <a:alphaModFix/>
          </a:blip>
          <a:srcRect b="-25" l="0" r="0" t="-25"/>
          <a:stretch/>
        </p:blipFill>
        <p:spPr>
          <a:xfrm>
            <a:off x="914400" y="761695"/>
            <a:ext cx="3238805" cy="59070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0"/>
          <p:cNvSpPr/>
          <p:nvPr/>
        </p:nvSpPr>
        <p:spPr>
          <a:xfrm>
            <a:off x="16192195" y="914400"/>
            <a:ext cx="228600" cy="228600"/>
          </a:xfrm>
          <a:prstGeom prst="rect">
            <a:avLst/>
          </a:prstGeom>
          <a:solidFill>
            <a:srgbClr val="C1489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16516807" y="914400"/>
            <a:ext cx="228600" cy="228600"/>
          </a:xfrm>
          <a:prstGeom prst="rect">
            <a:avLst/>
          </a:prstGeom>
          <a:solidFill>
            <a:srgbClr val="56ACD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16840505" y="914400"/>
            <a:ext cx="2286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 txBox="1"/>
          <p:nvPr/>
        </p:nvSpPr>
        <p:spPr>
          <a:xfrm>
            <a:off x="12191695" y="2667305"/>
            <a:ext cx="6096305" cy="6096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3974"/>
              </a:buClr>
              <a:buSzPts val="51000"/>
              <a:buFont typeface="MuseoModerno"/>
              <a:buNone/>
            </a:pPr>
            <a:r>
              <a:rPr b="1" i="0" lang="en-US" sz="51000" u="none" cap="none" strike="noStrike">
                <a:solidFill>
                  <a:srgbClr val="1E3974"/>
                </a:solidFill>
                <a:latin typeface="MuseoModerno"/>
                <a:ea typeface="MuseoModerno"/>
                <a:cs typeface="MuseoModerno"/>
                <a:sym typeface="MuseoModerno"/>
              </a:rPr>
              <a:t>&lt;</a:t>
            </a:r>
            <a:endParaRPr b="0" i="0" sz="5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1333195" y="4190695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1000"/>
              <a:buFont typeface="Space Mono"/>
              <a:buNone/>
            </a:pPr>
            <a:r>
              <a:rPr b="0" i="0" lang="en-US" sz="1000" u="none" cap="none" strike="noStrike">
                <a:solidFill>
                  <a:srgbClr val="56ACDE"/>
                </a:solidFill>
                <a:latin typeface="Space Mono"/>
                <a:ea typeface="Space Mono"/>
                <a:cs typeface="Space Mono"/>
                <a:sym typeface="Space Mono"/>
              </a:rPr>
              <a:t>CIERRE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d578c6887e9a23493392e7273ad5f265.png" id="215" name="Google Shape;215;p10"/>
          <p:cNvPicPr preferRelativeResize="0"/>
          <p:nvPr/>
        </p:nvPicPr>
        <p:blipFill rotWithShape="1">
          <a:blip r:embed="rId4">
            <a:alphaModFix/>
          </a:blip>
          <a:srcRect b="-384" l="0" r="0" t="-384"/>
          <a:stretch/>
        </p:blipFill>
        <p:spPr>
          <a:xfrm>
            <a:off x="1333195" y="4667098"/>
            <a:ext cx="95280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 txBox="1"/>
          <p:nvPr/>
        </p:nvSpPr>
        <p:spPr>
          <a:xfrm>
            <a:off x="1333195" y="4953305"/>
            <a:ext cx="142875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00"/>
              <a:buFont typeface="MuseoModerno"/>
              <a:buNone/>
            </a:pPr>
            <a:r>
              <a:rPr b="1" i="0" lang="en-US" sz="12700" u="none" cap="none" strike="noStrike">
                <a:solidFill>
                  <a:srgbClr val="FFFFFF"/>
                </a:solidFill>
                <a:latin typeface="MuseoModerno"/>
                <a:ea typeface="MuseoModerno"/>
                <a:cs typeface="MuseoModerno"/>
                <a:sym typeface="MuseoModerno"/>
              </a:rPr>
              <a:t>Gracias.</a:t>
            </a:r>
            <a:endParaRPr b="0" i="0" sz="1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1333195" y="7334402"/>
            <a:ext cx="114300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2D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B8C2D6"/>
                </a:solidFill>
                <a:latin typeface="Inter"/>
                <a:ea typeface="Inter"/>
                <a:cs typeface="Inter"/>
                <a:sym typeface="Inter"/>
              </a:rPr>
              <a:t>Laboratorio de Control, Robótica e Internet de las Cosas · ITM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ac618f68955ec7db780448572858a2c7.png" id="218" name="Google Shape;218;p10"/>
          <p:cNvPicPr preferRelativeResize="0"/>
          <p:nvPr/>
        </p:nvPicPr>
        <p:blipFill rotWithShape="1">
          <a:blip r:embed="rId5">
            <a:alphaModFix/>
          </a:blip>
          <a:srcRect b="0" l="-2078" r="-2078" t="0"/>
          <a:stretch/>
        </p:blipFill>
        <p:spPr>
          <a:xfrm>
            <a:off x="1333195" y="8001000"/>
            <a:ext cx="361919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0"/>
          <p:cNvSpPr txBox="1"/>
          <p:nvPr/>
        </p:nvSpPr>
        <p:spPr>
          <a:xfrm>
            <a:off x="1333195" y="8287207"/>
            <a:ext cx="952805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89A8"/>
              </a:buClr>
              <a:buSzPts val="900"/>
              <a:buFont typeface="Space Mono"/>
              <a:buNone/>
            </a:pPr>
            <a:r>
              <a:rPr b="0" i="0" lang="en-US" sz="900" u="none" cap="none" strike="noStrike">
                <a:solidFill>
                  <a:srgbClr val="7989A8"/>
                </a:solidFill>
                <a:latin typeface="Space Mono"/>
                <a:ea typeface="Space Mono"/>
                <a:cs typeface="Space Mono"/>
                <a:sym typeface="Space Mono"/>
              </a:rPr>
              <a:t>WEB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2381098" y="8287207"/>
            <a:ext cx="571500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56ACDE"/>
                </a:solidFill>
                <a:latin typeface="Inter"/>
                <a:ea typeface="Inter"/>
                <a:cs typeface="Inter"/>
                <a:sym typeface="Inter"/>
              </a:rPr>
              <a:t>www.coriotlab.co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1333195" y="8686800"/>
            <a:ext cx="952805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89A8"/>
              </a:buClr>
              <a:buSzPts val="900"/>
              <a:buFont typeface="Space Mono"/>
              <a:buNone/>
            </a:pPr>
            <a:r>
              <a:rPr b="0" i="0" lang="en-US" sz="900" u="none" cap="none" strike="noStrike">
                <a:solidFill>
                  <a:srgbClr val="7989A8"/>
                </a:solidFill>
                <a:latin typeface="Space Mono"/>
                <a:ea typeface="Space Mono"/>
                <a:cs typeface="Space Mono"/>
                <a:sym typeface="Space Mono"/>
              </a:rPr>
              <a:t>MAIL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2381098" y="8686800"/>
            <a:ext cx="5715000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56ACDE"/>
                </a:solidFill>
                <a:latin typeface="Inter"/>
                <a:ea typeface="Inter"/>
                <a:cs typeface="Inter"/>
                <a:sym typeface="Inter"/>
              </a:rPr>
              <a:t>info@coriotlab.co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 txBox="1"/>
          <p:nvPr/>
        </p:nvSpPr>
        <p:spPr>
          <a:xfrm>
            <a:off x="1333195" y="97155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89A8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7989A8"/>
                </a:solidFill>
                <a:latin typeface="Space Mono"/>
                <a:ea typeface="Space Mono"/>
                <a:cs typeface="Space Mono"/>
                <a:sym typeface="Space Mono"/>
              </a:rPr>
              <a:t>CONTROL · ROBÓTICA · IOT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16383305" y="9715500"/>
            <a:ext cx="762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ACDE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56ACDE"/>
                </a:solidFill>
                <a:latin typeface="Space Mono"/>
                <a:ea typeface="Space Mono"/>
                <a:cs typeface="Space Mono"/>
                <a:sym typeface="Space Mono"/>
              </a:rPr>
              <a:t>08 / 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